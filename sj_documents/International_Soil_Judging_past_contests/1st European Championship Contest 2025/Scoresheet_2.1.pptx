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097" autoAdjust="0"/>
  </p:normalViewPr>
  <p:slideViewPr>
    <p:cSldViewPr snapToGrid="0">
      <p:cViewPr varScale="1">
        <p:scale>
          <a:sx n="105" d="100"/>
          <a:sy n="105" d="100"/>
        </p:scale>
        <p:origin x="1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462" cy="465483"/>
          </a:xfrm>
          <a:prstGeom prst="rect">
            <a:avLst/>
          </a:prstGeom>
        </p:spPr>
        <p:txBody>
          <a:bodyPr vert="horz" lIns="90452" tIns="45226" rIns="90452" bIns="45226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71322" y="0"/>
            <a:ext cx="3037462" cy="465483"/>
          </a:xfrm>
          <a:prstGeom prst="rect">
            <a:avLst/>
          </a:prstGeom>
        </p:spPr>
        <p:txBody>
          <a:bodyPr vert="horz" lIns="90452" tIns="45226" rIns="90452" bIns="45226" rtlCol="0"/>
          <a:lstStyle>
            <a:lvl1pPr algn="r">
              <a:defRPr sz="1200"/>
            </a:lvl1pPr>
          </a:lstStyle>
          <a:p>
            <a:fld id="{DE61DD35-E302-411E-B8F5-784A1981F8A0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452" tIns="45226" rIns="90452" bIns="45226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1202" y="4473645"/>
            <a:ext cx="5607997" cy="3660521"/>
          </a:xfrm>
          <a:prstGeom prst="rect">
            <a:avLst/>
          </a:prstGeom>
        </p:spPr>
        <p:txBody>
          <a:bodyPr vert="horz" lIns="90452" tIns="45226" rIns="90452" bIns="45226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8830917"/>
            <a:ext cx="3037462" cy="465483"/>
          </a:xfrm>
          <a:prstGeom prst="rect">
            <a:avLst/>
          </a:prstGeom>
        </p:spPr>
        <p:txBody>
          <a:bodyPr vert="horz" lIns="90452" tIns="45226" rIns="90452" bIns="45226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71322" y="8830917"/>
            <a:ext cx="3037462" cy="465483"/>
          </a:xfrm>
          <a:prstGeom prst="rect">
            <a:avLst/>
          </a:prstGeom>
        </p:spPr>
        <p:txBody>
          <a:bodyPr vert="horz" lIns="90452" tIns="45226" rIns="90452" bIns="45226" rtlCol="0" anchor="b"/>
          <a:lstStyle>
            <a:lvl1pPr algn="r">
              <a:defRPr sz="1200"/>
            </a:lvl1pPr>
          </a:lstStyle>
          <a:p>
            <a:fld id="{2C06B214-6390-4CA8-BCEC-1BAD05FFE00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3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227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453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50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85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28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677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09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0397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14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644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306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C55C1-0A28-46E0-9033-7433FFBD3D98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14F2E-0F92-4371-BD94-483222E70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15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>
            <a:extLst>
              <a:ext uri="{FF2B5EF4-FFF2-40B4-BE49-F238E27FC236}">
                <a16:creationId xmlns:a16="http://schemas.microsoft.com/office/drawing/2014/main" id="{4CE7A567-4769-8537-34DA-98A5C2BD26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7" y="-353"/>
            <a:ext cx="1397000" cy="13214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1C9FF23-C6C5-DA20-E3B6-8D7DFDF089AB}"/>
              </a:ext>
            </a:extLst>
          </p:cNvPr>
          <p:cNvSpPr txBox="1"/>
          <p:nvPr/>
        </p:nvSpPr>
        <p:spPr>
          <a:xfrm>
            <a:off x="1488621" y="8897"/>
            <a:ext cx="836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Arial Narrow" panose="020B0606020202030204" pitchFamily="34" charset="0"/>
              </a:rPr>
              <a:t>SCORESHEET </a:t>
            </a:r>
            <a:r>
              <a:rPr lang="en-US" sz="1000" noProof="0" dirty="0">
                <a:latin typeface="Arial Narrow" panose="020B0606020202030204" pitchFamily="34" charset="0"/>
              </a:rPr>
              <a:t>Profile ID.....</a:t>
            </a:r>
            <a:r>
              <a:rPr lang="en-US" sz="1000" dirty="0">
                <a:latin typeface="Arial Narrow" panose="020B0606020202030204" pitchFamily="34" charset="0"/>
              </a:rPr>
              <a:t>...........</a:t>
            </a:r>
            <a:r>
              <a:rPr lang="en-US" sz="1000" noProof="0" dirty="0">
                <a:latin typeface="Arial Narrow" panose="020B0606020202030204" pitchFamily="34" charset="0"/>
              </a:rPr>
              <a:t>..........     Contestant ID.............................     Describe.......horizons to a depth of...............cm    Nail at.......cm </a:t>
            </a: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41175080-C413-9622-9BCB-C7395A805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760151"/>
              </p:ext>
            </p:extLst>
          </p:nvPr>
        </p:nvGraphicFramePr>
        <p:xfrm>
          <a:off x="1629227" y="592403"/>
          <a:ext cx="9756860" cy="7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351089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682217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21020404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7311464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39781151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74728781"/>
                    </a:ext>
                  </a:extLst>
                </a:gridCol>
                <a:gridCol w="900860">
                  <a:extLst>
                    <a:ext uri="{9D8B030D-6E8A-4147-A177-3AD203B41FA5}">
                      <a16:colId xmlns:a16="http://schemas.microsoft.com/office/drawing/2014/main" val="36498207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3578218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782348673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90441339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Land Use</a:t>
                      </a: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Slope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de-DE" sz="1000" b="1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Erosion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de-DE" sz="1000" b="1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Surface stoniness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Rock outcrops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Surface unevenness</a:t>
                      </a: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Litter layer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9846041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Type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Position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Gradient %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Category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Degree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%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%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Class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Area covered %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Average thickness (cm) (1)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39628343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12788866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FF509ADA-E59C-DD89-03F5-C47980D97D8C}"/>
              </a:ext>
            </a:extLst>
          </p:cNvPr>
          <p:cNvSpPr txBox="1"/>
          <p:nvPr/>
        </p:nvSpPr>
        <p:spPr>
          <a:xfrm>
            <a:off x="1540327" y="351507"/>
            <a:ext cx="9744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Narrow" panose="020B0606020202030204" pitchFamily="34" charset="0"/>
              </a:rPr>
              <a:t>I. SITE CHARACTERISTICS															         SCORE:</a:t>
            </a:r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0550ECCD-5EF0-A84B-1C4F-D0C7C9CC8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364629"/>
              </p:ext>
            </p:extLst>
          </p:nvPr>
        </p:nvGraphicFramePr>
        <p:xfrm>
          <a:off x="76209" y="1660500"/>
          <a:ext cx="12024000" cy="229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257734928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6892125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6364089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02667134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07173664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52821454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45693856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78057734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24613829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55008574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3517168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80896109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7658283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70960825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56028000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12844760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2380483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628895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6125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07429576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61225746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28936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4654326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7047917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6507389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985003348"/>
                    </a:ext>
                  </a:extLst>
                </a:gridCol>
              </a:tblGrid>
              <a:tr h="2520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Horizon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Texture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de-DE" sz="1000" b="1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 b="1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Rock fragments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Structure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Carbonates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Color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Redoximorphic features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Aggregate surf.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Par. mat.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527189020"/>
                  </a:ext>
                </a:extLst>
              </a:tr>
              <a:tr h="529200">
                <a:tc>
                  <a:txBody>
                    <a:bodyPr/>
                    <a:lstStyle/>
                    <a:p>
                      <a:pPr>
                        <a:tabLst/>
                      </a:pPr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No.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Lower Depth (cm) 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Distinct ness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Shape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Class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Clay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%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Sand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%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%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Weight. Aver. % 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Type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Grade 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Content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Sec. Carb.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Type 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Sec. Carb.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%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Hue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Value 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Chroma 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 err="1">
                          <a:latin typeface="Arial Narrow" panose="020B0606020202030204" pitchFamily="34" charset="0"/>
                        </a:rPr>
                        <a:t>Oxim</a:t>
                      </a:r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Loc.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 err="1">
                          <a:latin typeface="Arial Narrow" panose="020B0606020202030204" pitchFamily="34" charset="0"/>
                        </a:rPr>
                        <a:t>Reductim</a:t>
                      </a:r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. Loc. 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 err="1">
                          <a:latin typeface="Arial Narrow" panose="020B0606020202030204" pitchFamily="34" charset="0"/>
                        </a:rPr>
                        <a:t>Oxim</a:t>
                      </a:r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. inner % 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 err="1">
                          <a:latin typeface="Arial Narrow" panose="020B0606020202030204" pitchFamily="34" charset="0"/>
                        </a:rPr>
                        <a:t>Oxim</a:t>
                      </a:r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. outer %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 err="1">
                          <a:latin typeface="Arial Narrow" panose="020B0606020202030204" pitchFamily="34" charset="0"/>
                        </a:rPr>
                        <a:t>Reductim</a:t>
                      </a:r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. inner %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 err="1">
                          <a:latin typeface="Arial Narrow" panose="020B0606020202030204" pitchFamily="34" charset="0"/>
                        </a:rPr>
                        <a:t>Reductim</a:t>
                      </a:r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. outer % 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Type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%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(1)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Type </a:t>
                      </a:r>
                    </a:p>
                    <a:p>
                      <a:pPr algn="ctr"/>
                      <a:r>
                        <a:rPr lang="en-US" sz="1000" i="1" noProof="0" dirty="0">
                          <a:latin typeface="Arial Narrow" panose="020B0606020202030204" pitchFamily="34" charset="0"/>
                        </a:rPr>
                        <a:t>(2)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00901878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0" dirty="0"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1100" b="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30" marR="11430" marT="0" marB="0" anchor="ctr"/>
                </a:tc>
                <a:extLst>
                  <a:ext uri="{0D108BD9-81ED-4DB2-BD59-A6C34878D82A}">
                    <a16:rowId xmlns:a16="http://schemas.microsoft.com/office/drawing/2014/main" val="355536595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91446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6577781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1704892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8499233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207212306"/>
                  </a:ext>
                </a:extLst>
              </a:tr>
            </a:tbl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C5CF4CAE-6C81-23ED-C2CE-DEB1F0B4C2BB}"/>
              </a:ext>
            </a:extLst>
          </p:cNvPr>
          <p:cNvSpPr txBox="1"/>
          <p:nvPr/>
        </p:nvSpPr>
        <p:spPr>
          <a:xfrm>
            <a:off x="38094" y="1410501"/>
            <a:ext cx="11991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Narrow" panose="020B0606020202030204" pitchFamily="34" charset="0"/>
              </a:rPr>
              <a:t>II. PROFILE DESCRIPTION																		SCORE:</a:t>
            </a:r>
          </a:p>
        </p:txBody>
      </p:sp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FF32C81B-EA8D-041D-FA79-F6FC85125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817737"/>
              </p:ext>
            </p:extLst>
          </p:nvPr>
        </p:nvGraphicFramePr>
        <p:xfrm>
          <a:off x="138636" y="4450289"/>
          <a:ext cx="5471214" cy="226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720209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12360847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439762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4601895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8787239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055093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27791522"/>
                    </a:ext>
                  </a:extLst>
                </a:gridCol>
                <a:gridCol w="683214">
                  <a:extLst>
                    <a:ext uri="{9D8B030D-6E8A-4147-A177-3AD203B41FA5}">
                      <a16:colId xmlns:a16="http://schemas.microsoft.com/office/drawing/2014/main" val="364860741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9917333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7386742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64884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54106438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Rooting depth class (3)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Type of restrictive layer (3)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Hydraulic conductivity (6)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AWHC (3)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Drainage class (3)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5546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Very deep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&gt; 120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Continuous rock</a:t>
                      </a: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Mineral surface horizon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Horizon with the lowest conductivity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5600906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Deep</a:t>
                      </a:r>
                    </a:p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&gt; 80 - 120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Rock fragments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Moderate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08277596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Moderately deep</a:t>
                      </a:r>
                    </a:p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&gt; 40 - 80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Cemented layer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Moderate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Moderate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Low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41896656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Shallow</a:t>
                      </a:r>
                    </a:p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&gt; 20 - 40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Massive structure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Low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Low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Very low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489724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Very shallow</a:t>
                      </a:r>
                    </a:p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≤ 20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None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96883408"/>
                  </a:ext>
                </a:extLst>
              </a:tr>
            </a:tbl>
          </a:graphicData>
        </a:graphic>
      </p:graphicFrame>
      <p:sp>
        <p:nvSpPr>
          <p:cNvPr id="15" name="Textfeld 14">
            <a:extLst>
              <a:ext uri="{FF2B5EF4-FFF2-40B4-BE49-F238E27FC236}">
                <a16:creationId xmlns:a16="http://schemas.microsoft.com/office/drawing/2014/main" id="{2BE1F526-CF27-056C-53E5-50E631EF277C}"/>
              </a:ext>
            </a:extLst>
          </p:cNvPr>
          <p:cNvSpPr txBox="1"/>
          <p:nvPr/>
        </p:nvSpPr>
        <p:spPr>
          <a:xfrm>
            <a:off x="38095" y="4208866"/>
            <a:ext cx="6256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Narrow" panose="020B0606020202030204" pitchFamily="34" charset="0"/>
              </a:rPr>
              <a:t>III. SOIL CHARACTERISTICS						SCORE:</a:t>
            </a:r>
          </a:p>
        </p:txBody>
      </p: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AD425255-CBA4-28C3-9217-4D36A48FE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81973"/>
              </p:ext>
            </p:extLst>
          </p:nvPr>
        </p:nvGraphicFramePr>
        <p:xfrm>
          <a:off x="8649770" y="4450289"/>
          <a:ext cx="3348000" cy="113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224502246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516862315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10609515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8597531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Class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Cereal production (3)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Forest (3)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Camp site (3)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73009614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1. Optimal 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8605748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2. Suitable 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802319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3. Not suitable 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65927389"/>
                  </a:ext>
                </a:extLst>
              </a:tr>
            </a:tbl>
          </a:graphicData>
        </a:graphic>
      </p:graphicFrame>
      <p:sp>
        <p:nvSpPr>
          <p:cNvPr id="17" name="Textfeld 16">
            <a:extLst>
              <a:ext uri="{FF2B5EF4-FFF2-40B4-BE49-F238E27FC236}">
                <a16:creationId xmlns:a16="http://schemas.microsoft.com/office/drawing/2014/main" id="{FE75D260-2AC1-BEBB-7386-2FC2759549AF}"/>
              </a:ext>
            </a:extLst>
          </p:cNvPr>
          <p:cNvSpPr txBox="1"/>
          <p:nvPr/>
        </p:nvSpPr>
        <p:spPr>
          <a:xfrm>
            <a:off x="8573566" y="4208862"/>
            <a:ext cx="3461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Narrow" panose="020B0606020202030204" pitchFamily="34" charset="0"/>
              </a:rPr>
              <a:t>IV. EVALUATION			SCORE:</a:t>
            </a:r>
          </a:p>
        </p:txBody>
      </p:sp>
    </p:spTree>
    <p:extLst>
      <p:ext uri="{BB962C8B-B14F-4D97-AF65-F5344CB8AC3E}">
        <p14:creationId xmlns:p14="http://schemas.microsoft.com/office/powerpoint/2010/main" val="67282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3">
            <a:extLst>
              <a:ext uri="{FF2B5EF4-FFF2-40B4-BE49-F238E27FC236}">
                <a16:creationId xmlns:a16="http://schemas.microsoft.com/office/drawing/2014/main" id="{3B519E78-D2CC-B230-79D1-B32ADCC3D07F}"/>
              </a:ext>
            </a:extLst>
          </p:cNvPr>
          <p:cNvSpPr txBox="1"/>
          <p:nvPr/>
        </p:nvSpPr>
        <p:spPr>
          <a:xfrm>
            <a:off x="161934" y="75477"/>
            <a:ext cx="11868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Narrow" panose="020B0606020202030204" pitchFamily="34" charset="0"/>
              </a:rPr>
              <a:t>V. HORIZON DESIGNATION AND SOIL CLASSIFICATION																	</a:t>
            </a:r>
          </a:p>
        </p:txBody>
      </p:sp>
      <p:sp>
        <p:nvSpPr>
          <p:cNvPr id="9" name="Textfeld 4">
            <a:extLst>
              <a:ext uri="{FF2B5EF4-FFF2-40B4-BE49-F238E27FC236}">
                <a16:creationId xmlns:a16="http://schemas.microsoft.com/office/drawing/2014/main" id="{B9571F6C-6C5A-83C3-8E5F-375C656C3BCA}"/>
              </a:ext>
            </a:extLst>
          </p:cNvPr>
          <p:cNvSpPr txBox="1"/>
          <p:nvPr/>
        </p:nvSpPr>
        <p:spPr>
          <a:xfrm>
            <a:off x="161934" y="328276"/>
            <a:ext cx="11868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Narrow" panose="020B0606020202030204" pitchFamily="34" charset="0"/>
              </a:rPr>
              <a:t>V.1 WORLD REFERENCE BASE FOR SOIL RESOURCES (2022)							SCORE:</a:t>
            </a:r>
          </a:p>
        </p:txBody>
      </p:sp>
      <p:sp>
        <p:nvSpPr>
          <p:cNvPr id="14" name="Textfeld 5">
            <a:extLst>
              <a:ext uri="{FF2B5EF4-FFF2-40B4-BE49-F238E27FC236}">
                <a16:creationId xmlns:a16="http://schemas.microsoft.com/office/drawing/2014/main" id="{94A75C87-1061-0545-7135-280338275023}"/>
              </a:ext>
            </a:extLst>
          </p:cNvPr>
          <p:cNvSpPr txBox="1"/>
          <p:nvPr/>
        </p:nvSpPr>
        <p:spPr>
          <a:xfrm>
            <a:off x="239991" y="3947776"/>
            <a:ext cx="8776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Narrow" panose="020B0606020202030204" pitchFamily="34" charset="0"/>
              </a:rPr>
              <a:t>V.2 SOIL TAXONOMY (2022) 													SCORE:</a:t>
            </a:r>
          </a:p>
        </p:txBody>
      </p:sp>
      <p:graphicFrame>
        <p:nvGraphicFramePr>
          <p:cNvPr id="15" name="Tabelle 6">
            <a:extLst>
              <a:ext uri="{FF2B5EF4-FFF2-40B4-BE49-F238E27FC236}">
                <a16:creationId xmlns:a16="http://schemas.microsoft.com/office/drawing/2014/main" id="{6078B633-E3B9-E8E0-FDA3-BB21A2377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838962"/>
              </p:ext>
            </p:extLst>
          </p:nvPr>
        </p:nvGraphicFramePr>
        <p:xfrm>
          <a:off x="2716491" y="4224775"/>
          <a:ext cx="6620896" cy="24662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245575801"/>
                    </a:ext>
                  </a:extLst>
                </a:gridCol>
                <a:gridCol w="466997">
                  <a:extLst>
                    <a:ext uri="{9D8B030D-6E8A-4147-A177-3AD203B41FA5}">
                      <a16:colId xmlns:a16="http://schemas.microsoft.com/office/drawing/2014/main" val="301460131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64102860"/>
                    </a:ext>
                  </a:extLst>
                </a:gridCol>
                <a:gridCol w="661578">
                  <a:extLst>
                    <a:ext uri="{9D8B030D-6E8A-4147-A177-3AD203B41FA5}">
                      <a16:colId xmlns:a16="http://schemas.microsoft.com/office/drawing/2014/main" val="35491510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58271865"/>
                    </a:ext>
                  </a:extLst>
                </a:gridCol>
                <a:gridCol w="1245324">
                  <a:extLst>
                    <a:ext uri="{9D8B030D-6E8A-4147-A177-3AD203B41FA5}">
                      <a16:colId xmlns:a16="http://schemas.microsoft.com/office/drawing/2014/main" val="333239207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2911893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56794904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7856348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6837355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98134284"/>
                    </a:ext>
                  </a:extLst>
                </a:gridCol>
                <a:gridCol w="466997">
                  <a:extLst>
                    <a:ext uri="{9D8B030D-6E8A-4147-A177-3AD203B41FA5}">
                      <a16:colId xmlns:a16="http://schemas.microsoft.com/office/drawing/2014/main" val="25880172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097880205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014496182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Epipedon (10)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Subsurface horizons (5)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Diagnostic characteristics (5)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Order (10)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Suborder (5)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Great Group (5)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Subgroup (5)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96950104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Mollic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Argillic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Abrupt textural change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Alfisol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Aqu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000" kern="100" dirty="0" err="1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Argi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Aquic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27419192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Ochric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Calcic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Aquic conditions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Entisol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Fluv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Calci</a:t>
                      </a:r>
                      <a:endParaRPr lang="de-DE" sz="1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Calcic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165693433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None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Cambic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Lithologic discontinuity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Inceptisol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Orth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Endo</a:t>
                      </a: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000" kern="100" dirty="0" err="1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Fluvaquentic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25973081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Petrocalcic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Lithic contact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Mollisol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Psamm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Epi</a:t>
                      </a: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000" kern="100" dirty="0" err="1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Fluventic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262988914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None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 err="1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Paralithic</a:t>
                      </a: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contact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Vertisol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Xer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 err="1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Eutr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Lithic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44257414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Secondary carbonates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 err="1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Fluv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Petrocalcic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3749681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Slickensides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Hapl(o)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000" kern="100" dirty="0" err="1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Rhodic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885521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Pale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Typic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2634037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Xer(o)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 err="1">
                          <a:effectLst/>
                          <a:latin typeface="Arial Narrow" panose="020B0606020202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Vertic</a:t>
                      </a:r>
                      <a:endParaRPr lang="de-DE" sz="1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extLst>
                  <a:ext uri="{0D108BD9-81ED-4DB2-BD59-A6C34878D82A}">
                    <a16:rowId xmlns:a16="http://schemas.microsoft.com/office/drawing/2014/main" val="3353003464"/>
                  </a:ext>
                </a:extLst>
              </a:tr>
            </a:tbl>
          </a:graphicData>
        </a:graphic>
      </p:graphicFrame>
      <p:graphicFrame>
        <p:nvGraphicFramePr>
          <p:cNvPr id="16" name="Tabelle 7">
            <a:extLst>
              <a:ext uri="{FF2B5EF4-FFF2-40B4-BE49-F238E27FC236}">
                <a16:creationId xmlns:a16="http://schemas.microsoft.com/office/drawing/2014/main" id="{8936D543-AC68-F321-56BB-5B39A9EA3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107753"/>
              </p:ext>
            </p:extLst>
          </p:nvPr>
        </p:nvGraphicFramePr>
        <p:xfrm>
          <a:off x="239991" y="4224775"/>
          <a:ext cx="2268000" cy="188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11547938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2055288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98903184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802139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305067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No.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Stratum (1)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Master (2)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>
                          <a:latin typeface="Arial Narrow" panose="020B0606020202030204" pitchFamily="34" charset="0"/>
                        </a:rPr>
                        <a:t>Suffix(es) </a:t>
                      </a:r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(3)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Number (1)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6511617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14377763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1654785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3956473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0389577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79424771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248689587"/>
                  </a:ext>
                </a:extLst>
              </a:tr>
            </a:tbl>
          </a:graphicData>
        </a:graphic>
      </p:graphicFrame>
      <p:graphicFrame>
        <p:nvGraphicFramePr>
          <p:cNvPr id="17" name="Tabelle 9">
            <a:extLst>
              <a:ext uri="{FF2B5EF4-FFF2-40B4-BE49-F238E27FC236}">
                <a16:creationId xmlns:a16="http://schemas.microsoft.com/office/drawing/2014/main" id="{62CAF107-2DAC-5FB3-16F7-168016EB4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445853"/>
              </p:ext>
            </p:extLst>
          </p:nvPr>
        </p:nvGraphicFramePr>
        <p:xfrm>
          <a:off x="239991" y="600900"/>
          <a:ext cx="2268000" cy="188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11547938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2055288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98903184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802139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305067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No.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Stratum (1)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Master (2)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Suffix(es) </a:t>
                      </a:r>
                    </a:p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(3)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Number (1)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6511617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14377763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1654785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3956473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0389577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79424771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248689587"/>
                  </a:ext>
                </a:extLst>
              </a:tr>
            </a:tbl>
          </a:graphicData>
        </a:graphic>
      </p:graphicFrame>
      <p:graphicFrame>
        <p:nvGraphicFramePr>
          <p:cNvPr id="18" name="Tabelle 10">
            <a:extLst>
              <a:ext uri="{FF2B5EF4-FFF2-40B4-BE49-F238E27FC236}">
                <a16:creationId xmlns:a16="http://schemas.microsoft.com/office/drawing/2014/main" id="{9DFC1D6B-3DF2-BAD8-AD66-157F7EE56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784641"/>
              </p:ext>
            </p:extLst>
          </p:nvPr>
        </p:nvGraphicFramePr>
        <p:xfrm>
          <a:off x="2716491" y="600900"/>
          <a:ext cx="5904000" cy="329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61240861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5218060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90788152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81845233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3320714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210688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746699107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5396490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798208348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48266639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Diagnostic horizons (10)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Diagnostic properties (5)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Diagnostic materials (5)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Reference Soil Group (10)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noProof="0" dirty="0">
                          <a:latin typeface="Arial Narrow" panose="020B0606020202030204" pitchFamily="34" charset="0"/>
                        </a:rPr>
                        <a:t>Principal Qualifiers (25)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 sz="1000" b="1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923767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Argic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Abrupt textural difference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Calcaric</a:t>
                      </a:r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 material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Arenosol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Calcaric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039116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Calcic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Continuous rock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Fluvic material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Calcisol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Calcic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82674064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Cambic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Gleyic properties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Solimovic</a:t>
                      </a:r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 material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Cambisol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Cambic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751687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Mollic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Lithic discontinuity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None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Fluvisol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Chromic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64771233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Petrocalcic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Protocalcic</a:t>
                      </a:r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 properties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Gleysol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Fluvic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0953698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Protovertic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Reducing conditions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Kastanozem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Haplic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43963054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Vertic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Stagnic</a:t>
                      </a:r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 properties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Luvisol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Luvic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6917718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None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None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Phaeozem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Oxygleyic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23406862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Regosol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Petric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1860446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Stagnosol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>
                          <a:latin typeface="Arial Narrow" panose="020B0606020202030204" pitchFamily="34" charset="0"/>
                        </a:rPr>
                        <a:t>Petrocalcic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63579773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Vertisol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Reductigleyic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783464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Skeletic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18574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0" dirty="0" err="1">
                          <a:latin typeface="Arial Narrow" panose="020B0606020202030204" pitchFamily="34" charset="0"/>
                        </a:rPr>
                        <a:t>Stagnic</a:t>
                      </a:r>
                      <a:endParaRPr lang="en-US" sz="1000" noProof="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65633795"/>
                  </a:ext>
                </a:extLst>
              </a:tr>
            </a:tbl>
          </a:graphicData>
        </a:graphic>
      </p:graphicFrame>
      <p:graphicFrame>
        <p:nvGraphicFramePr>
          <p:cNvPr id="19" name="Tabelle 11">
            <a:extLst>
              <a:ext uri="{FF2B5EF4-FFF2-40B4-BE49-F238E27FC236}">
                <a16:creationId xmlns:a16="http://schemas.microsoft.com/office/drawing/2014/main" id="{92BFA9BD-7A76-E3C9-31EC-723410FBB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964707"/>
              </p:ext>
            </p:extLst>
          </p:nvPr>
        </p:nvGraphicFramePr>
        <p:xfrm>
          <a:off x="9553566" y="3009976"/>
          <a:ext cx="2358617" cy="2390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721">
                  <a:extLst>
                    <a:ext uri="{9D8B030D-6E8A-4147-A177-3AD203B41FA5}">
                      <a16:colId xmlns:a16="http://schemas.microsoft.com/office/drawing/2014/main" val="280905009"/>
                    </a:ext>
                  </a:extLst>
                </a:gridCol>
                <a:gridCol w="910513">
                  <a:extLst>
                    <a:ext uri="{9D8B030D-6E8A-4147-A177-3AD203B41FA5}">
                      <a16:colId xmlns:a16="http://schemas.microsoft.com/office/drawing/2014/main" val="2928795736"/>
                    </a:ext>
                  </a:extLst>
                </a:gridCol>
                <a:gridCol w="939383">
                  <a:extLst>
                    <a:ext uri="{9D8B030D-6E8A-4147-A177-3AD203B41FA5}">
                      <a16:colId xmlns:a16="http://schemas.microsoft.com/office/drawing/2014/main" val="100801029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 Narrow" panose="020B0606020202030204" pitchFamily="34" charset="0"/>
                        </a:rPr>
                        <a:t>Name </a:t>
                      </a:r>
                      <a:r>
                        <a:rPr lang="de-DE" sz="1000" dirty="0" err="1">
                          <a:latin typeface="Arial Narrow" panose="020B0606020202030204" pitchFamily="34" charset="0"/>
                        </a:rPr>
                        <a:t>examiner</a:t>
                      </a:r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524670628"/>
                  </a:ext>
                </a:extLst>
              </a:tr>
              <a:tr h="286133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 Narrow" panose="020B0606020202030204" pitchFamily="34" charset="0"/>
                        </a:rPr>
                        <a:t>I.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3168263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 Narrow" panose="020B0606020202030204" pitchFamily="34" charset="0"/>
                        </a:rPr>
                        <a:t>II.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69258743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 Narrow" panose="020B0606020202030204" pitchFamily="34" charset="0"/>
                        </a:rPr>
                        <a:t>III.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457346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 Narrow" panose="020B0606020202030204" pitchFamily="34" charset="0"/>
                        </a:rPr>
                        <a:t>IV.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161124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 Narrow" panose="020B0606020202030204" pitchFamily="34" charset="0"/>
                        </a:rPr>
                        <a:t>V.1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441651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 Narrow" panose="020B0606020202030204" pitchFamily="34" charset="0"/>
                        </a:rPr>
                        <a:t>V.2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297237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 Narrow" panose="020B0606020202030204" pitchFamily="34" charset="0"/>
                        </a:rPr>
                        <a:t>Total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Arial Narrow" panose="020B060602020203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983781946"/>
                  </a:ext>
                </a:extLst>
              </a:tr>
            </a:tbl>
          </a:graphicData>
        </a:graphic>
      </p:graphicFrame>
      <p:sp>
        <p:nvSpPr>
          <p:cNvPr id="20" name="Textfeld 12">
            <a:extLst>
              <a:ext uri="{FF2B5EF4-FFF2-40B4-BE49-F238E27FC236}">
                <a16:creationId xmlns:a16="http://schemas.microsoft.com/office/drawing/2014/main" id="{E3DD53CE-FD86-0855-A8B8-3523EAE9EE3B}"/>
              </a:ext>
            </a:extLst>
          </p:cNvPr>
          <p:cNvSpPr txBox="1"/>
          <p:nvPr/>
        </p:nvSpPr>
        <p:spPr>
          <a:xfrm>
            <a:off x="10268860" y="2732977"/>
            <a:ext cx="1332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Narrow" panose="020B0606020202030204" pitchFamily="34" charset="0"/>
              </a:rPr>
              <a:t>SCORE SUMMARY</a:t>
            </a:r>
          </a:p>
        </p:txBody>
      </p:sp>
      <p:sp>
        <p:nvSpPr>
          <p:cNvPr id="21" name="Textfeld 1">
            <a:extLst>
              <a:ext uri="{FF2B5EF4-FFF2-40B4-BE49-F238E27FC236}">
                <a16:creationId xmlns:a16="http://schemas.microsoft.com/office/drawing/2014/main" id="{FAF44DA5-64E5-F636-5F78-54C13F37CD77}"/>
              </a:ext>
            </a:extLst>
          </p:cNvPr>
          <p:cNvSpPr txBox="1"/>
          <p:nvPr/>
        </p:nvSpPr>
        <p:spPr>
          <a:xfrm>
            <a:off x="10289260" y="5747908"/>
            <a:ext cx="1456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 Narrow" panose="020B0606020202030204" pitchFamily="34" charset="0"/>
              </a:rPr>
              <a:t>Final score..................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637831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934</TotalTime>
  <Words>728</Words>
  <Application>Microsoft Office PowerPoint</Application>
  <PresentationFormat>Widescreen</PresentationFormat>
  <Paragraphs>261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Narrow</vt:lpstr>
      <vt:lpstr>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Schad</dc:creator>
  <cp:lastModifiedBy>Galbraith, John</cp:lastModifiedBy>
  <cp:revision>68</cp:revision>
  <cp:lastPrinted>2025-06-27T22:21:49Z</cp:lastPrinted>
  <dcterms:created xsi:type="dcterms:W3CDTF">2025-05-11T12:25:52Z</dcterms:created>
  <dcterms:modified xsi:type="dcterms:W3CDTF">2025-06-30T14:00:49Z</dcterms:modified>
</cp:coreProperties>
</file>